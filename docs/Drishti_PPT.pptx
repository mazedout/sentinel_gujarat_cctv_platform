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 · SOLUTION PROPOSAL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Fragmented CCTV Into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Operational Intelligence Layer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a lack of cameras. It is that ~80,000 cameras operate as fragmented, vendor-locked systems no human can continuously watch or manually search.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8716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Departments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00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39796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93979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Vendors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826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2F2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92424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VMS / NVRs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353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45052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2F2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505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Protocols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87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2F2F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297680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Dispersed Cameras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405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750308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2F2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75030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93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02936"/>
            <a:ext cx="4937760" cy="338328"/>
          </a:xfrm>
          <a:prstGeom prst="roundRect">
            <a:avLst>
              <a:gd name="adj" fmla="val 21622"/>
            </a:avLst>
          </a:prstGeom>
          <a:solidFill>
            <a:srgbClr val="FBE1D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20293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Investigation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2606040"/>
            <a:ext cx="5669280" cy="1417320"/>
          </a:xfrm>
          <a:prstGeom prst="roundRect">
            <a:avLst>
              <a:gd name="adj" fmla="val 10323"/>
            </a:avLst>
          </a:prstGeom>
          <a:solidFill>
            <a:srgbClr val="FBE1D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272491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~80,000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401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 across Gujarat — the scale any solution must operate at.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206240"/>
            <a:ext cx="5669280" cy="2148840"/>
          </a:xfrm>
          <a:prstGeom prst="roundRect">
            <a:avLst>
              <a:gd name="adj" fmla="val 6809"/>
            </a:avLst>
          </a:prstGeom>
          <a:solidFill>
            <a:srgbClr val="F2F2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6634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silos block a unified view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manual monitoring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post-incident investigation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 across departments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events cannot be correlated with watchlists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 — at statewide scale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Intelligence Layer Above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CCTV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/ NVRs / VMS  (heterogeneous, existing infrastructure)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 ·  HLS  ·  WebRTC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86200" y="2724912"/>
            <a:ext cx="0" cy="2743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2999232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2999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E1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86200" y="3502152"/>
            <a:ext cx="0" cy="256032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3758184"/>
            <a:ext cx="457200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3758184"/>
            <a:ext cx="0" cy="219456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3758184"/>
            <a:ext cx="0" cy="219456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3758184"/>
            <a:ext cx="0" cy="219456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977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2F2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105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REGISTRY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544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Registry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Viewing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Sync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3977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2F2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71800" y="4105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TRACKING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4544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3977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2F2F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57800" y="4105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OPS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4544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00200" y="5550408"/>
            <a:ext cx="0" cy="-201168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6200" y="5550408"/>
            <a:ext cx="0" cy="-201168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5550408"/>
            <a:ext cx="0" cy="-201168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5550408"/>
            <a:ext cx="457200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5550408"/>
            <a:ext cx="0" cy="438912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5989320"/>
            <a:ext cx="6675120" cy="457200"/>
          </a:xfrm>
          <a:prstGeom prst="roundRect">
            <a:avLst>
              <a:gd name="adj" fmla="val 20000"/>
            </a:avLst>
          </a:prstGeom>
          <a:solidFill>
            <a:srgbClr val="F2F2F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989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 ·  Traffic  ·  Crime Branch  ·  Operators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2011680"/>
            <a:ext cx="4160520" cy="1005840"/>
          </a:xfrm>
          <a:prstGeom prst="roundRect">
            <a:avLst>
              <a:gd name="adj" fmla="val 14545"/>
            </a:avLst>
          </a:prstGeom>
          <a:solidFill>
            <a:srgbClr val="FBE1D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21214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replace existing cameras. We add an intelligence and integration layer above them.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356616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2F2F3"/>
          </a:solidFill>
          <a:ln/>
        </p:spPr>
      </p:sp>
      <p:sp>
        <p:nvSpPr>
          <p:cNvPr id="35" name="Shape 33"/>
          <p:cNvSpPr/>
          <p:nvPr/>
        </p:nvSpPr>
        <p:spPr>
          <a:xfrm>
            <a:off x="7635240" y="364845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35240" y="36484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91540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Zero-leakage HLS proxy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98080" y="4224528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2F2F3"/>
          </a:solidFill>
          <a:ln/>
        </p:spPr>
      </p:sp>
      <p:sp>
        <p:nvSpPr>
          <p:cNvPr id="39" name="Shape 37"/>
          <p:cNvSpPr/>
          <p:nvPr/>
        </p:nvSpPr>
        <p:spPr>
          <a:xfrm>
            <a:off x="7635240" y="4306824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35240" y="4306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915400" y="42245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Track-caching ANPR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98080" y="4882896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2F2F3"/>
          </a:solidFill>
          <a:ln/>
        </p:spPr>
      </p:sp>
      <p:sp>
        <p:nvSpPr>
          <p:cNvPr id="43" name="Shape 41"/>
          <p:cNvSpPr/>
          <p:nvPr/>
        </p:nvSpPr>
        <p:spPr>
          <a:xfrm>
            <a:off x="7635240" y="496519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635240" y="4965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915400" y="48828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journey correlation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98080" y="5541264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F2F2F3"/>
          </a:solidFill>
          <a:ln/>
        </p:spPr>
      </p:sp>
      <p:sp>
        <p:nvSpPr>
          <p:cNvPr id="47" name="Shape 45"/>
          <p:cNvSpPr/>
          <p:nvPr/>
        </p:nvSpPr>
        <p:spPr>
          <a:xfrm>
            <a:off x="7635240" y="562356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635240" y="5623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915400" y="55412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Video to an Actionable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PIPELINE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02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36829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HLS / WebRTC feed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22174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002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INGESTION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36829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transport, PTS sync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22174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002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DETECTION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236829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vehicles &amp; objects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22174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52560" y="187452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0" y="2002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62288" y="236829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one ID per vehicle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07140" y="28620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191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LOCALIZATION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55701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the plate region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081528" y="34061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3280" y="3063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74720" y="3191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355701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registration plate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916168" y="34061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3191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 SCORE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355701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text, scores confidence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750808" y="34061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52560" y="3063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2F2F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0" y="31912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MATCH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162288" y="3557016"/>
            <a:ext cx="2295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BOLO / stolen lists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309860" y="4023360"/>
            <a:ext cx="0" cy="22860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83780" y="4251960"/>
            <a:ext cx="292608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83780" y="4251960"/>
            <a:ext cx="0" cy="18288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309860" y="4251960"/>
            <a:ext cx="0" cy="18288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03620" y="443484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F2F2F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8650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 —  continue monitoring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029700" y="443484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FBE1D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212580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 —  real-time alert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120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pipeline running in the Drishti PoC — not a conceptual diagram. A matched alert surfaces to the operator, GIS and analytics; a non-match keeps the vehicle under routine tracking.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0789920" cy="594360"/>
          </a:xfrm>
          <a:prstGeom prst="roundRect">
            <a:avLst>
              <a:gd name="adj" fmla="val 18462"/>
            </a:avLst>
          </a:prstGeom>
          <a:solidFill>
            <a:srgbClr val="F2F2F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2960" y="5623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runs on CUDA (NVIDIA GPU, FP16 via PyTorch) and gracefully degrades to AVX2 CPU when no GPU is available.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Is Only the Beginning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880360"/>
          </a:xfrm>
          <a:prstGeom prst="roundRect">
            <a:avLst>
              <a:gd name="adj" fmla="val 4444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AI-DERIVED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/ OCR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normalization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3520440" cy="2880360"/>
          </a:xfrm>
          <a:prstGeom prst="roundRect">
            <a:avLst>
              <a:gd name="adj" fmla="val 4444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ANALYTICS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031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activity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trends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activity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status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statistics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statistics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vehicle sightings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508760"/>
            <a:ext cx="3520440" cy="2880360"/>
          </a:xfrm>
          <a:prstGeom prst="roundRect">
            <a:avLst>
              <a:gd name="adj" fmla="val 4444"/>
            </a:avLst>
          </a:prstGeom>
          <a:solidFill>
            <a:srgbClr val="F2F2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1031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workflow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journey correlation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event records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0744200" cy="1508760"/>
          </a:xfrm>
          <a:prstGeom prst="roundRect">
            <a:avLst>
              <a:gd name="adj" fmla="val 9697"/>
            </a:avLst>
          </a:prstGeom>
          <a:solidFill>
            <a:srgbClr val="FBE1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731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TRACK-CACHING: THE KEY EFFICIENCY INNOVATION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02352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tracked vehicle receives a reliable plate read, repeated OCR is skipped for the rest of that track — PaddleOCR is computationally expensive, so this avoids redundant processing while tracking continues, especially at busy intersections.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Investigation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28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939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enters frame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660904" y="1956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16002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728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RECOGNIZED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0939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GJ01XX1122 · conf. 0.87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956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0" y="1728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CHECKED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20939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BOLO / stolen lists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0" cy="2743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788920"/>
            <a:ext cx="274320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788920"/>
            <a:ext cx="0" cy="2743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2788920"/>
            <a:ext cx="0" cy="2743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30632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31920" y="3191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50208" y="35204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log, no alert raised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0632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719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3191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93408" y="35570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dashboard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419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15400" y="30632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06840" y="3191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GIS JOURNEY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025128" y="35570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sightings mapped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data used in the PoC is synthetic. Live VAHAN / eGujCop integration is proposed, not currently connected.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5257800" cy="1691640"/>
          </a:xfrm>
          <a:prstGeom prst="roundRect">
            <a:avLst>
              <a:gd name="adj" fmla="val 8649"/>
            </a:avLst>
          </a:prstGeom>
          <a:solidFill>
            <a:srgbClr val="F2F2F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4645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834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multiple camera feeds manually, cross-referencing footage by hand across departments and vendors.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4480560"/>
            <a:ext cx="5440680" cy="1691640"/>
          </a:xfrm>
          <a:prstGeom prst="roundRect">
            <a:avLst>
              <a:gd name="adj" fmla="val 8649"/>
            </a:avLst>
          </a:prstGeom>
          <a:solidFill>
            <a:srgbClr val="FBE1D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46451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49834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D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plate → retrieve historical sightings → visualize the vehicle's journey on the map.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Workflow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Scale: Edge → Regional → Central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77340" y="4572000"/>
            <a:ext cx="0" cy="5029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77540" y="4572000"/>
            <a:ext cx="0" cy="5029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4572000"/>
            <a:ext cx="160020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4572000"/>
            <a:ext cx="0" cy="-54864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77740" y="4572000"/>
            <a:ext cx="0" cy="5029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7940" y="4572000"/>
            <a:ext cx="0" cy="50292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7740" y="4572000"/>
            <a:ext cx="160020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4572000"/>
            <a:ext cx="0" cy="-54864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2834640"/>
            <a:ext cx="0" cy="54864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834640"/>
            <a:ext cx="0" cy="54864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834640"/>
            <a:ext cx="2651760" cy="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2834640"/>
            <a:ext cx="0" cy="-640080"/>
          </a:xfrm>
          <a:prstGeom prst="line">
            <a:avLst/>
          </a:prstGeom>
          <a:noFill/>
          <a:ln w="15875">
            <a:solidFill>
              <a:srgbClr val="9797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1508760"/>
            <a:ext cx="6858000" cy="685800"/>
          </a:xfrm>
          <a:prstGeom prst="roundRect">
            <a:avLst>
              <a:gd name="adj" fmla="val 18667"/>
            </a:avLst>
          </a:prstGeom>
          <a:solidFill>
            <a:srgbClr val="FBE1D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COMMAND — GANDHINAGAR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1911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· Alerts · GIS · Search · Analytics · APIs / Metadata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08760" y="338328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F2F2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45920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GPU CLUSTER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HQ · YOLO / OCR / Tracking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60520" y="338328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F2F2F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GPU CLUSTER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HQ · YOLO / OCR / Tracking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1540" y="50749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2F2F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1540" y="5129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1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91540" y="5340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junction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91740" y="50749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2F2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491740" y="5129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2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491740" y="5340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junction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091940" y="50749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2F2F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091940" y="5129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3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091940" y="5340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junction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692140" y="50749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2F2F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92140" y="5129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4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692140" y="5340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junction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715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80,000 HD video streams to a central server is impossible. Video stays close to the source — only structured metadata (plate, timestamp, camera, track/event, alerts) moves centrally.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80960" y="1508760"/>
            <a:ext cx="3977640" cy="960120"/>
          </a:xfrm>
          <a:prstGeom prst="roundRect">
            <a:avLst>
              <a:gd name="adj" fmla="val 13333"/>
            </a:avLst>
          </a:prstGeom>
          <a:solidFill>
            <a:srgbClr val="F2F2F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86384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PoC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Single-node, local processing on one workstation.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80960" y="2606040"/>
            <a:ext cx="3977640" cy="960120"/>
          </a:xfrm>
          <a:prstGeom prst="roundRect">
            <a:avLst>
              <a:gd name="adj" fmla="val 13333"/>
            </a:avLst>
          </a:prstGeom>
          <a:solidFill>
            <a:srgbClr val="FBE1D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8638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statewide architecture across ~80,000 cameras.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6809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TECHNOLOGIES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80960" y="41148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0" y="41148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86968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680960" y="45354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80960" y="45354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869680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Triton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680960" y="4956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80960" y="4956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869680" y="4956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RabbitMQ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80960" y="53766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191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680960" y="5376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869680" y="5376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scaling / ClickHouse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1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Technically Feasible. Economically Scalable.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508760"/>
          </a:xfrm>
          <a:prstGeom prst="roundRect">
            <a:avLst>
              <a:gd name="adj" fmla="val 8485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single workstation, RTX 3060/4060, 16GB RAM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regional NVIDIA L4 GPU clusters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52744" y="1417320"/>
            <a:ext cx="5257800" cy="1508760"/>
          </a:xfrm>
          <a:prstGeom prst="roundRect">
            <a:avLst>
              <a:gd name="adj" fmla="val 8485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81344" y="15819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81344" y="1965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edge/regional; metadata → central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 approach; avoids raw-video transport centrally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5257800" cy="1508760"/>
          </a:xfrm>
          <a:prstGeom prst="roundRect">
            <a:avLst>
              <a:gd name="adj" fmla="val 8485"/>
            </a:avLst>
          </a:prstGeom>
          <a:solidFill>
            <a:srgbClr val="F2F2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369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210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retained centrally (PostgreSQL)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on edge NVRs, ~30-day retention; evidence uploaded selectively to central object storage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52744" y="3072384"/>
            <a:ext cx="5257800" cy="1508760"/>
          </a:xfrm>
          <a:prstGeom prst="roundRect">
            <a:avLst>
              <a:gd name="adj" fmla="val 8485"/>
            </a:avLst>
          </a:prstGeom>
          <a:solidFill>
            <a:srgbClr val="F2F2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81344" y="32369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36210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050" dirty="0"/>
          </a:p>
          <a:p>
            <a:pPr marL="1778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77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10661904" cy="1371600"/>
          </a:xfrm>
          <a:prstGeom prst="roundRect">
            <a:avLst>
              <a:gd name="adj" fmla="val 10667"/>
            </a:avLst>
          </a:prstGeom>
          <a:solidFill>
            <a:srgbClr val="FBE1D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48072"/>
            <a:ext cx="10204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Count  ×  Video Bitrate  ×  Retention  ×  AI Processing Rate  ×  GPU Capacity  ×  Network Infrastructure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477256"/>
            <a:ext cx="1020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compute, GPU, networking, storage   ·   OPEX: bandwidth, power, maintenance, storage, support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751576"/>
            <a:ext cx="10204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statewide cost requires department-level camera, bitrate, retention and infrastructure inventory.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IMPACT ·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Statewide Visibility.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Response.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BE1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BE1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(Admin / Officer / Traffic)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BE1D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logging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BE1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74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stream credential protection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BE1D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840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stream proxying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12700">
            <a:solidFill>
              <a:srgbClr val="8A8D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206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between edge &amp; central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12700">
            <a:solidFill>
              <a:srgbClr val="8A8D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572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87452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Active Directory integration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12700">
            <a:solidFill>
              <a:srgbClr val="8A8D9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937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4937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Security Modules (HSM) for keys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2057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395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23957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23957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2798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CCTV review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641080" y="27980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27980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events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3200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feeds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641080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052560" y="32004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operational view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36027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plate search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41080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36027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ANPR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263640" y="40050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watchlists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641080" y="40050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4005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correlation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3A3D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BE1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 GUJARAT</a:t>
            </a:r>
            <a:endParaRPr lang="en-US" sz="2600" dirty="0"/>
          </a:p>
        </p:txBody>
      </p:sp>
      <p:sp>
        <p:nvSpPr>
          <p:cNvPr id="47" name="Text 45"/>
          <p:cNvSpPr txBox="1"/>
          <p:nvPr/>
        </p:nvSpPr>
        <p:spPr>
          <a:xfrm>
            <a:off x="14630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C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Gujarat's existing CCTV infrastructure into a unified operational intelligence platform.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Impact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265615" y="6510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9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GUJARAT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2026-09-14T21:29:00Z</dcterms:created>
  <dcterms:modified xsi:type="dcterms:W3CDTF">2026-09-14T21:29:00Z</dcterms:modified>
</cp:coreProperties>
</file>